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Play"/>
      <p:regular r:id="rId28"/>
      <p:bold r:id="rId29"/>
    </p:embeddedFont>
    <p:embeddedFont>
      <p:font typeface="Oswald Light"/>
      <p:regular r:id="rId30"/>
      <p:bold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bAxYvyUJUwZRV/77P9sTNoad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swaldLight-bold.fntdata"/><Relationship Id="rId30" Type="http://schemas.openxmlformats.org/officeDocument/2006/relationships/font" Target="fonts/OswaldLight-regular.fntdata"/><Relationship Id="rId11" Type="http://schemas.openxmlformats.org/officeDocument/2006/relationships/slide" Target="slides/slide5.xml"/><Relationship Id="rId33" Type="http://schemas.openxmlformats.org/officeDocument/2006/relationships/font" Target="fonts/Oswald-bold.fntdata"/><Relationship Id="rId10" Type="http://schemas.openxmlformats.org/officeDocument/2006/relationships/slide" Target="slides/slide4.xml"/><Relationship Id="rId32" Type="http://schemas.openxmlformats.org/officeDocument/2006/relationships/font" Target="fonts/Oswa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1443740" y="1558944"/>
            <a:ext cx="3279689" cy="1864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5334000" y="762000"/>
            <a:ext cx="5333999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80"/>
              <a:buChar char="•"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40"/>
              <a:buFont typeface="Oswald Light"/>
              <a:buNone/>
              <a:defRPr sz="2400">
                <a:solidFill>
                  <a:schemeClr val="lt1"/>
                </a:solidFill>
              </a:defRPr>
            </a:lvl2pPr>
            <a:lvl3pPr indent="-33655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Oswald Light"/>
              <a:buNone/>
              <a:defRPr sz="1800">
                <a:solidFill>
                  <a:schemeClr val="lt1"/>
                </a:solidFill>
              </a:defRPr>
            </a:lvl4pPr>
            <a:lvl5pPr indent="-325754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25"/>
          <p:cNvSpPr txBox="1"/>
          <p:nvPr>
            <p:ph idx="2" type="body"/>
          </p:nvPr>
        </p:nvSpPr>
        <p:spPr>
          <a:xfrm>
            <a:off x="1443741" y="3649682"/>
            <a:ext cx="3233096" cy="1933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Oswald Light"/>
              <a:buNone/>
              <a:defRPr sz="14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None/>
              <a:defRPr sz="12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Font typeface="Oswald Light"/>
              <a:buNone/>
              <a:defRPr sz="10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1429566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4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4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1429566" y="1045445"/>
            <a:ext cx="9238434" cy="8575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1429566" y="2286000"/>
            <a:ext cx="9238434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4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indent="-228600" lvl="1" marL="9144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b="1" i="0" sz="16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indent="-304164" lvl="2" marL="13716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indent="-228600" lvl="3" marL="18288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 b="1" i="0" sz="12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indent="-293370" lvl="4" marL="22860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/>
              <a:t>AWS S3 Honeypot as a Service (HPaaS) Project Proposal</a:t>
            </a:r>
            <a:endParaRPr/>
          </a:p>
        </p:txBody>
      </p:sp>
      <p:sp>
        <p:nvSpPr>
          <p:cNvPr id="69" name="Google Shape;69;p1"/>
          <p:cNvSpPr txBox="1"/>
          <p:nvPr>
            <p:ph idx="1" type="body"/>
          </p:nvPr>
        </p:nvSpPr>
        <p:spPr>
          <a:xfrm>
            <a:off x="1115568" y="2478024"/>
            <a:ext cx="4967813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Bradley Sanchez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Cloud Architect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Diagram Design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Observability Engineer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6202318" y="2475893"/>
            <a:ext cx="4967813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Alonzo Izzo</a:t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572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Applications Provisioner</a:t>
            </a:r>
            <a:endParaRPr/>
          </a:p>
          <a:p>
            <a:pPr indent="-4572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Documentation</a:t>
            </a:r>
            <a:endParaRPr/>
          </a:p>
          <a:p>
            <a:pPr indent="-4572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Monitoring Analyst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/>
              <a:t>Problem Statement 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This project creates a low-cost, ethical AWS S3 honeypot that safely logs unauthorized access for educational purposes.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/>
              <a:t>Project Objectives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14350" lvl="0" marL="5143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Implement a low-interaction web honeypot using AWS S3 to mimic a login or admin page.</a:t>
            </a:r>
            <a:endParaRPr/>
          </a:p>
          <a:p>
            <a:pPr indent="-514350" lvl="0" marL="51435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Capture and log access attempts (IP addresses, timestamps, HTTP methods) for analysis of attacker behavior. </a:t>
            </a:r>
            <a:endParaRPr/>
          </a:p>
          <a:p>
            <a:pPr indent="-514350" lvl="0" marL="51435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Demonstrate cloud-based security monitoring using free-tier AWS services such as CloudWatch and SNS.</a:t>
            </a:r>
            <a:endParaRPr/>
          </a:p>
          <a:p>
            <a:pPr indent="-514350" lvl="0" marL="51435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Use AWS Lambda for automated processing/alerts when the honeypot is accessed.</a:t>
            </a:r>
            <a:endParaRPr/>
          </a:p>
          <a:p>
            <a:pPr indent="-514350" lvl="0" marL="51435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Stay fully within AWS Free Tier to avoid costs while maintaining functionality. </a:t>
            </a:r>
            <a:endParaRPr/>
          </a:p>
          <a:p>
            <a:pPr indent="-376555" lvl="0" marL="51435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/>
              <a:t>Proposed solution overview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low-cost AWS S3 honeypot that safely logs unauthorized access for educational purposes. 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diagram of a computer&#10;&#10;AI-generated content may be incorrect."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321" y="3570464"/>
            <a:ext cx="7157358" cy="2969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/>
              <a:t>Cloud Services and Tools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Amazon Simple Storage Service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Amazon Identity and access management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Aws Lambda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CloudTrail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Amazon detective</a:t>
            </a:r>
            <a:endParaRPr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white line on a green background&#10;&#10;AI-generated content may be incorrect.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385" y="2283277"/>
            <a:ext cx="1094015" cy="1148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line drawing of a key and cloud&#10;&#10;AI-generated content may be incorrect.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8814" y="2283279"/>
            <a:ext cx="1094015" cy="1189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line on an orange background&#10;&#10;AI-generated content may be incorrect."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8814" y="3929743"/>
            <a:ext cx="1094015" cy="1189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cloud on a pink background&#10;&#10;AI-generated content may be incorrect." id="99" name="Google Shape;9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88385" y="3929743"/>
            <a:ext cx="1094015" cy="1189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outline of a person with a magnifying glass&#10;&#10;AI-generated content may be incorrect." id="100" name="Google Shape;10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9993" y="5385705"/>
            <a:ext cx="1094015" cy="1189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/>
              <a:t>Timeline (For Weeks 2-8)</a:t>
            </a:r>
            <a:endParaRPr/>
          </a:p>
        </p:txBody>
      </p:sp>
      <p:pic>
        <p:nvPicPr>
          <p:cNvPr descr="A black and white text on a black background&#10;&#10;AI-generated content may be incorrect." id="106" name="Google Shape;10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82" y="2478024"/>
            <a:ext cx="8436699" cy="369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1443740" y="1558944"/>
            <a:ext cx="3279689" cy="1864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SENTINELS3- HPAAS</a:t>
            </a:r>
            <a:endParaRPr/>
          </a:p>
        </p:txBody>
      </p:sp>
      <p:pic>
        <p:nvPicPr>
          <p:cNvPr descr="What Is a Honeypot in Network Security? Definition, Types &amp; Uses - InfoSec  Insights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1762125"/>
            <a:ext cx="5333999" cy="333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>
            <p:ph idx="2" type="body"/>
          </p:nvPr>
        </p:nvSpPr>
        <p:spPr>
          <a:xfrm>
            <a:off x="1443741" y="3649682"/>
            <a:ext cx="3233096" cy="1933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</a:pPr>
            <a:r>
              <a:rPr lang="en-US"/>
              <a:t>Team Members: Bradley Sanchez &amp; Alonzo Izzo</a:t>
            </a:r>
            <a:endParaRPr/>
          </a:p>
        </p:txBody>
      </p:sp>
      <p:sp>
        <p:nvSpPr>
          <p:cNvPr id="114" name="Google Shape;114;p7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cap="none">
                <a:solidFill>
                  <a:schemeClr val="lt1"/>
                </a:solidFill>
              </a:rPr>
              <a:t>2/4/2026</a:t>
            </a:r>
            <a:endParaRPr/>
          </a:p>
        </p:txBody>
      </p:sp>
      <p:pic>
        <p:nvPicPr>
          <p:cNvPr descr="File:Solid black.svg - Wikimedia Commons"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210" y="3076529"/>
            <a:ext cx="1062790" cy="234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/>
              <a:t>FUNCTIONAL REQUIREMENTS</a:t>
            </a:r>
            <a:endParaRPr/>
          </a:p>
        </p:txBody>
      </p:sp>
      <p:pic>
        <p:nvPicPr>
          <p:cNvPr descr="What Is a Honeypot &amp; How Is It Used for Security?"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013" y="2812252"/>
            <a:ext cx="4495800" cy="204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 txBox="1"/>
          <p:nvPr>
            <p:ph idx="2" type="body"/>
          </p:nvPr>
        </p:nvSpPr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Host a public-facing decoy website and database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Mimic a legitimate web interface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Log all access attempts and requests for ssh and failed login attempts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Trigger alerts on suspicious activity and failed logins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Support basic investigation of access patterns</a:t>
            </a:r>
            <a:endParaRPr/>
          </a:p>
        </p:txBody>
      </p:sp>
      <p:sp>
        <p:nvSpPr>
          <p:cNvPr id="123" name="Google Shape;123;p8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cap="none">
                <a:solidFill>
                  <a:schemeClr val="lt1"/>
                </a:solidFill>
              </a:rPr>
              <a:t>2/4/2026</a:t>
            </a:r>
            <a:endParaRPr/>
          </a:p>
        </p:txBody>
      </p:sp>
      <p:pic>
        <p:nvPicPr>
          <p:cNvPr descr="File:Solid black.svg - Wikimedia Commons" id="124" name="Google Shape;1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210" y="3076529"/>
            <a:ext cx="1062790" cy="234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/>
              <a:t>NON-FUNCTIONAL REQUIREMENTS</a:t>
            </a:r>
            <a:endParaRPr/>
          </a:p>
        </p:txBody>
      </p:sp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1429566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Low cost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Serverless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Secure and fault tolerant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Scalable to support varying traffic needs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Reliable and highly available</a:t>
            </a:r>
            <a:endParaRPr/>
          </a:p>
        </p:txBody>
      </p:sp>
      <p:pic>
        <p:nvPicPr>
          <p:cNvPr descr="AWS Well Architected Framework Review - nClouds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536633"/>
            <a:ext cx="4495800" cy="315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2/4/2026</a:t>
            </a:r>
            <a:endParaRPr/>
          </a:p>
        </p:txBody>
      </p:sp>
      <p:pic>
        <p:nvPicPr>
          <p:cNvPr descr="File:Solid black.svg - Wikimedia Commons"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210" y="3076529"/>
            <a:ext cx="1062790" cy="234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/>
              <a:t>SELECTED CLOUD PROVIDER &amp; JUSTIFIER</a:t>
            </a:r>
            <a:endParaRPr/>
          </a:p>
        </p:txBody>
      </p:sp>
      <p:pic>
        <p:nvPicPr>
          <p:cNvPr descr="Honeypot Security and Networking - N-able" id="139" name="Google Shape;139;p10"/>
          <p:cNvPicPr preferRelativeResize="0"/>
          <p:nvPr/>
        </p:nvPicPr>
        <p:blipFill rotWithShape="1">
          <a:blip r:embed="rId3">
            <a:alphaModFix/>
          </a:blip>
          <a:srcRect b="-1" l="12665" r="31142" t="0"/>
          <a:stretch/>
        </p:blipFill>
        <p:spPr>
          <a:xfrm>
            <a:off x="1429566" y="2135565"/>
            <a:ext cx="4495800" cy="396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>
            <p:ph idx="2" type="body"/>
          </p:nvPr>
        </p:nvSpPr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5"/>
              <a:buNone/>
            </a:pPr>
            <a:r>
              <a:rPr lang="en-US" sz="1700"/>
              <a:t>Our Selected Cloud Provider: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Amazon Web Services (AWS)</a:t>
            </a:r>
            <a:endParaRPr/>
          </a:p>
          <a:p>
            <a:pPr indent="-182562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None/>
            </a:pPr>
            <a:r>
              <a:rPr lang="en-US" sz="1700"/>
              <a:t>Why?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Free tier serverless svc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Security &amp; monitoring tools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Industry-standard cloud platform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Event-driven architectures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5"/>
              <a:buChar char="•"/>
            </a:pPr>
            <a:r>
              <a:rPr lang="en-US" sz="1700"/>
              <a:t>Ease of use</a:t>
            </a:r>
            <a:endParaRPr/>
          </a:p>
        </p:txBody>
      </p:sp>
      <p:sp>
        <p:nvSpPr>
          <p:cNvPr id="141" name="Google Shape;141;p10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2/4/2026</a:t>
            </a:r>
            <a:endParaRPr/>
          </a:p>
        </p:txBody>
      </p:sp>
      <p:sp>
        <p:nvSpPr>
          <p:cNvPr id="142" name="Google Shape;142;p10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43" name="Google Shape;143;p10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le:Solid black.svg - Wikimedia Commons" id="144" name="Google Shape;1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94" y="0"/>
            <a:ext cx="99260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/>
              <a:t>CLOUD SERVICES OVERVIEW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1429566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Amazon S3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AWS Lambda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Amazon EventBridge (Optional/may me redundant with Lambda)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Amazon SNS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Amazon CloudWatch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Amazon Detective (Optional)</a:t>
            </a:r>
            <a:endParaRPr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AWS IAM</a:t>
            </a:r>
            <a:endParaRPr/>
          </a:p>
          <a:p>
            <a:pPr indent="-107315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None/>
            </a:pPr>
            <a:r>
              <a:t/>
            </a:r>
            <a:endParaRPr sz="1400"/>
          </a:p>
          <a:p>
            <a:pPr indent="-182880" lvl="0" marL="182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/>
              <a:t>*Selected services may be adjusted as project objectives evolve*</a:t>
            </a:r>
            <a:endParaRPr/>
          </a:p>
        </p:txBody>
      </p:sp>
      <p:pic>
        <p:nvPicPr>
          <p:cNvPr descr="AWS Managed Cloud Service Provider | Halcyon" id="151" name="Google Shape;151;p11"/>
          <p:cNvPicPr preferRelativeResize="0"/>
          <p:nvPr/>
        </p:nvPicPr>
        <p:blipFill rotWithShape="1">
          <a:blip r:embed="rId3">
            <a:alphaModFix/>
          </a:blip>
          <a:srcRect b="3514" l="0" r="4" t="8398"/>
          <a:stretch/>
        </p:blipFill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cap="none">
                <a:solidFill>
                  <a:schemeClr val="lt1"/>
                </a:solidFill>
              </a:rPr>
              <a:t>2/4/2026</a:t>
            </a:r>
            <a:endParaRPr/>
          </a:p>
        </p:txBody>
      </p:sp>
      <p:sp>
        <p:nvSpPr>
          <p:cNvPr id="153" name="Google Shape;153;p11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54" name="Google Shape;154;p11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le:Solid black.svg - Wikimedia Commons" id="155" name="Google Shape;1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94" y="0"/>
            <a:ext cx="99260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1429566" y="1045445"/>
            <a:ext cx="9238434" cy="8575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TECHNOLOGY STACK AND TOOLS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1429566" y="2286000"/>
            <a:ext cx="9238434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Frontend: HTML, CSS, JavaScript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Backend Logic: AWS Lambda (Python or Node.js)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Logging &amp; Monitoring: S3, CloudWatch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Notifications: Amazon SNS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Development Tools: AWS Console, GitHub</a:t>
            </a:r>
            <a:endParaRPr/>
          </a:p>
        </p:txBody>
      </p:sp>
      <p:pic>
        <p:nvPicPr>
          <p:cNvPr descr="HTML/CSS/JavaScript Snippets - Visual Studio Marketplace"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917" y="1906003"/>
            <a:ext cx="2990850" cy="194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descr="AWS SNS Vector Logo - Download Free SVG Icon | Worldvectorlogo"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1942" y="3854174"/>
            <a:ext cx="2002514" cy="2008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ntbridge message event bus Vector Icons free download in SVG, PNG Format" id="164" name="Google Shape;16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1431" y="3730182"/>
            <a:ext cx="2444795" cy="24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</a:pPr>
            <a:r>
              <a:rPr lang="en-US"/>
              <a:t>KEY DESIGN CONSIDERATIONS</a:t>
            </a:r>
            <a:endParaRPr/>
          </a:p>
        </p:txBody>
      </p:sp>
      <p:pic>
        <p:nvPicPr>
          <p:cNvPr descr="Beehive PNG Designs for T Shirt &amp; Merch"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248" y="2135565"/>
            <a:ext cx="3960435" cy="396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>
            <p:ph idx="2" type="body"/>
          </p:nvPr>
        </p:nvSpPr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Ethical and safe honeypot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Free Tier cost awareness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No collection of sensitive user data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Minimal attack surface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</a:pPr>
            <a:r>
              <a:rPr lang="en-US"/>
              <a:t>Educational and demonstrative focus</a:t>
            </a:r>
            <a:endParaRPr/>
          </a:p>
        </p:txBody>
      </p:sp>
      <p:sp>
        <p:nvSpPr>
          <p:cNvPr id="172" name="Google Shape;172;p13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2/4/2026</a:t>
            </a:r>
            <a:endParaRPr/>
          </a:p>
        </p:txBody>
      </p:sp>
      <p:pic>
        <p:nvPicPr>
          <p:cNvPr descr="File:Solid black.svg - Wikimedia Commons" id="173" name="Google Shape;1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210" y="3076529"/>
            <a:ext cx="1062790" cy="234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 flipH="1" rot="10800000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0A3041">
                  <a:alpha val="83137"/>
                </a:srgbClr>
              </a:gs>
              <a:gs pos="21000">
                <a:srgbClr val="0A3041">
                  <a:alpha val="83137"/>
                </a:srgbClr>
              </a:gs>
              <a:gs pos="100000">
                <a:srgbClr val="15608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1176"/>
                </a:srgbClr>
              </a:gs>
              <a:gs pos="100000">
                <a:srgbClr val="000000">
                  <a:alpha val="4117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 flipH="1" rot="5400000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27058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156082">
                  <a:alpha val="25882"/>
                </a:srgbClr>
              </a:gs>
              <a:gs pos="85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 txBox="1"/>
          <p:nvPr>
            <p:ph type="ctrTitle"/>
          </p:nvPr>
        </p:nvSpPr>
        <p:spPr>
          <a:xfrm>
            <a:off x="4162567" y="818984"/>
            <a:ext cx="6714699" cy="3178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en-US" sz="4800">
                <a:solidFill>
                  <a:srgbClr val="FFFFFF"/>
                </a:solidFill>
              </a:rPr>
              <a:t>Week 4 Milestone: System Architecture &amp; Design Diagram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0F4861">
                  <a:alpha val="50196"/>
                </a:srgbClr>
              </a:gs>
              <a:gs pos="99000">
                <a:srgbClr val="000000">
                  <a:alpha val="34117"/>
                </a:srgbClr>
              </a:gs>
              <a:gs pos="100000">
                <a:srgbClr val="000000">
                  <a:alpha val="34117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4285397" y="4960961"/>
            <a:ext cx="7055893" cy="1078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>
                <a:solidFill>
                  <a:srgbClr val="FFFFFF"/>
                </a:solidFill>
              </a:rPr>
              <a:t>Alonzo Izzo &amp; Bradley Sanchez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>
            <p:ph type="title"/>
          </p:nvPr>
        </p:nvSpPr>
        <p:spPr>
          <a:xfrm>
            <a:off x="420818" y="45192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Week 3 recap</a:t>
            </a: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Selected cloud provider: Amazon Web Services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Technology stack and tools: HTML, AWS lambda, CloudWatch, etc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Functional requirements: mimic a legitimate website, log all suspicious attempts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design considerations: ethical and safe, educational and demonstrative focus, free tier cost awareness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>
            <p:ph type="title"/>
          </p:nvPr>
        </p:nvSpPr>
        <p:spPr>
          <a:xfrm>
            <a:off x="1070808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Architecture Overview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644056" y="2112579"/>
            <a:ext cx="10927829" cy="41928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Low-interaction, serverless web honeypot</a:t>
            </a:r>
            <a:endParaRPr/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website hosted on Amazon S3</a:t>
            </a:r>
            <a:endParaRPr/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Logs unauthorized access attempts safely</a:t>
            </a:r>
            <a:endParaRPr/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AWS-managed services</a:t>
            </a:r>
            <a:endParaRPr/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for AWS Free Tier compliance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/>
          <p:nvPr>
            <p:ph type="title"/>
          </p:nvPr>
        </p:nvSpPr>
        <p:spPr>
          <a:xfrm>
            <a:off x="626267" y="211315"/>
            <a:ext cx="10937986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System Architecture Diagram</a:t>
            </a:r>
            <a:endParaRPr/>
          </a:p>
        </p:txBody>
      </p:sp>
      <p:pic>
        <p:nvPicPr>
          <p:cNvPr descr="A diagram of a software application&#10;&#10;AI-generated content may be incorrect." id="220" name="Google Shape;220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884" y="1575268"/>
            <a:ext cx="10045283" cy="528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 a   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 txBox="1"/>
          <p:nvPr>
            <p:ph type="title"/>
          </p:nvPr>
        </p:nvSpPr>
        <p:spPr>
          <a:xfrm>
            <a:off x="108584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Component Interaction &amp; Data Flow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67100" y="2049525"/>
            <a:ext cx="107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•A user accesses the honeypot website via the public S3 endpoint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•Amazon S3 serves the static the static content to the user’s browser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•All access requests are logged by Amazon S3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•Logs are stored in S3 and monitored through CloudWatch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•AWS Lambda processes logs and triggers alerts via SNS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Scalability &amp; Availability 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561650" y="1911575"/>
            <a:ext cx="11292000" cy="47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•Amazon S3 automatically scales to handle varying traffic levels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•The serverless design removes single points of failure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•AWS-managed services ensure high availability without manual intervention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•No capacity planning is required due to the static and event-driven architecture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2156"/>
                </a:srgbClr>
              </a:gs>
              <a:gs pos="100000">
                <a:srgbClr val="0A304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Security Overview</a:t>
            </a:r>
            <a:endParaRPr/>
          </a:p>
        </p:txBody>
      </p:sp>
      <p:sp>
        <p:nvSpPr>
          <p:cNvPr id="251" name="Google Shape;251;p20"/>
          <p:cNvSpPr txBox="1"/>
          <p:nvPr>
            <p:ph idx="1" type="body"/>
          </p:nvPr>
        </p:nvSpPr>
        <p:spPr>
          <a:xfrm>
            <a:off x="1371599" y="1716618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 real authentication or sensitive data is collected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IAM roles enforce least-privilege access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honeypot is isolated from any production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Logs are strictly for educational and analytical purposes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Key Design Decisions</a:t>
            </a:r>
            <a:endParaRPr/>
          </a:p>
        </p:txBody>
      </p:sp>
      <p:sp>
        <p:nvSpPr>
          <p:cNvPr id="259" name="Google Shape;259;p21"/>
          <p:cNvSpPr txBox="1"/>
          <p:nvPr>
            <p:ph idx="1" type="body"/>
          </p:nvPr>
        </p:nvSpPr>
        <p:spPr>
          <a:xfrm>
            <a:off x="761802" y="1379622"/>
            <a:ext cx="4646905" cy="4976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Chose S3 for simplicity and cost efficiency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Avoided databases and servers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Used optional automation for alerts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Designed for ethical, academic use</a:t>
            </a:r>
            <a:endParaRPr/>
          </a:p>
        </p:txBody>
      </p:sp>
      <p:pic>
        <p:nvPicPr>
          <p:cNvPr descr="Illuminated server room panel" id="260" name="Google Shape;260;p21"/>
          <p:cNvPicPr preferRelativeResize="0"/>
          <p:nvPr/>
        </p:nvPicPr>
        <p:blipFill rotWithShape="1">
          <a:blip r:embed="rId3">
            <a:alphaModFix/>
          </a:blip>
          <a:srcRect b="-3" l="13491" r="27195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rtalVTI">
  <a:themeElements>
    <a:clrScheme name="PortalVTI">
      <a:dk1>
        <a:srgbClr val="000000"/>
      </a:dk1>
      <a:lt1>
        <a:srgbClr val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2026-01-26T20:39:06.0000000Z</dcterms:created>
</cp:coreProperties>
</file>